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3" r:id="rId3"/>
    <p:sldId id="259" r:id="rId4"/>
    <p:sldId id="260" r:id="rId5"/>
    <p:sldId id="257"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a:srgbClr val="FF99FF"/>
    <a:srgbClr val="99FF33"/>
    <a:srgbClr val="B9D9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4C43D-B335-4EA5-3024-76560700A0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B63E3E-A632-6585-1D18-D40018280C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B56B1C-1615-46F4-416D-5BABC2BEE2AD}"/>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358E2076-4C2D-3BD4-ED86-81A593BA7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F64DA2-C1DB-C9C2-310A-B790C7817891}"/>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722450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84DC-1BAA-D496-ABB0-DE879131C6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EDA6CD-1AC8-2684-723E-DE91D09478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4301E2-54C7-3F48-AF99-7DF78F553C27}"/>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6CD6597A-A102-8985-ED6A-43EFA87663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719E94-7D9A-DDF7-E0E9-1BE38B7EC0CD}"/>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1768425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48181-AED8-0B1A-710F-8422422B7C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89F5BFE-06EF-0400-338B-3FF9FD6C9B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95CA8B-0BCB-D702-F569-C3589A4D427E}"/>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B39BC26D-7895-9DF2-691B-3D886A2269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14BB6D-1252-DD32-9A96-FAF4E0C43B4E}"/>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2412627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A88D6-7C07-4E54-0908-22CE697AFA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0EFA1B-4D9D-CC50-CD7F-956B13B3EC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00787F-1176-C225-475A-E993D4AD4E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E82ED3-BD30-BAA9-B751-A506041D3E9D}"/>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6" name="Footer Placeholder 5">
            <a:extLst>
              <a:ext uri="{FF2B5EF4-FFF2-40B4-BE49-F238E27FC236}">
                <a16:creationId xmlns:a16="http://schemas.microsoft.com/office/drawing/2014/main" id="{6728AFE2-A097-671C-D9D4-5204160C2D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83D5D3-F221-F07F-9BD7-1AC1C65B04F9}"/>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44594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1D32B-3F84-5858-7C1D-8DA4E2972B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35E81E-99F8-5C58-E5E2-EE27CD94AA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253AB-80F8-B54A-A2A9-8A9B40DA08A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02B534B-28DB-046D-F70F-17EF1128C4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29D8D4-071C-8E1C-EADA-C09D332192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2689CE-A3B0-C18E-4F22-8D8677DF9FC2}"/>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8" name="Footer Placeholder 7">
            <a:extLst>
              <a:ext uri="{FF2B5EF4-FFF2-40B4-BE49-F238E27FC236}">
                <a16:creationId xmlns:a16="http://schemas.microsoft.com/office/drawing/2014/main" id="{37A060B9-73AC-4F37-2B4D-1D07395D54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3EF45D-0B72-1BEE-B09D-D37295D99392}"/>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101279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1DADE-3425-F9BC-C29C-CB27A5E5A4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F62785-69AC-4129-EBA6-AFA81235CFC4}"/>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4" name="Footer Placeholder 3">
            <a:extLst>
              <a:ext uri="{FF2B5EF4-FFF2-40B4-BE49-F238E27FC236}">
                <a16:creationId xmlns:a16="http://schemas.microsoft.com/office/drawing/2014/main" id="{EB0BCEE1-18B8-AED4-1F6A-D7210CFC0E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2BC99BA-6EA4-3CF1-E8FA-C1E8EFA1927A}"/>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211646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5099C-FF8B-3E44-1026-E2E79AFFB59C}"/>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3" name="Footer Placeholder 2">
            <a:extLst>
              <a:ext uri="{FF2B5EF4-FFF2-40B4-BE49-F238E27FC236}">
                <a16:creationId xmlns:a16="http://schemas.microsoft.com/office/drawing/2014/main" id="{92FCBF8E-4653-FFA5-B28E-E40FA6821B2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CBCFB0-497D-D717-2DDE-5B2B34ED727C}"/>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700559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9B1E8-0CB0-4208-8542-295CF6BA00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BC72DF-4158-ECFB-4BF8-CD000BE6B8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9741C4-E4DB-B688-8970-6EC0D79A9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F0BC20-5049-8E73-5F64-2CBDB61F8D28}"/>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6" name="Footer Placeholder 5">
            <a:extLst>
              <a:ext uri="{FF2B5EF4-FFF2-40B4-BE49-F238E27FC236}">
                <a16:creationId xmlns:a16="http://schemas.microsoft.com/office/drawing/2014/main" id="{BC2814F1-C6C0-CDF9-D13E-8AC8B57FCD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160D41-F41B-3FB2-017A-5729B2CF2EDF}"/>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1736314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D95F3-6A36-B3EF-8A82-0A201F666B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54EAE9-28A2-C17B-6F31-F521D48E5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97E0907-5086-5899-869B-DDF0CB669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7A83A-4BF8-422C-F6F8-D3659F5817FA}"/>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6" name="Footer Placeholder 5">
            <a:extLst>
              <a:ext uri="{FF2B5EF4-FFF2-40B4-BE49-F238E27FC236}">
                <a16:creationId xmlns:a16="http://schemas.microsoft.com/office/drawing/2014/main" id="{61ED0537-BF6F-657F-529C-856F6F7FD5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F76EEF-5FAB-BF2D-9AE9-AAD9E9BC4D9B}"/>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3856059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8710F-A01A-B43F-5B25-A679113BE58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38C3A5-7861-8134-B5F8-C12F67A048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E3AAB-A54F-9B3F-52D2-27976C429DF8}"/>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6E965807-633E-4AA6-B1A7-98F12EF5EA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7CD21-3903-DACD-81B4-C4FF123886EE}"/>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1621460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8BCC71-87B7-B991-ED5E-E4914F0201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EE3E10-C521-0CCB-0489-E9C91E0905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644816-D9EE-86C8-334B-6DF423FFB639}"/>
              </a:ext>
            </a:extLst>
          </p:cNvPr>
          <p:cNvSpPr>
            <a:spLocks noGrp="1"/>
          </p:cNvSpPr>
          <p:nvPr>
            <p:ph type="dt" sz="half" idx="10"/>
          </p:nvPr>
        </p:nvSpPr>
        <p:spPr/>
        <p:txBody>
          <a:body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401C6486-8D34-679C-933F-85FF6905B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F4981-B092-87E4-1AFA-F7615150699B}"/>
              </a:ext>
            </a:extLst>
          </p:cNvPr>
          <p:cNvSpPr>
            <a:spLocks noGrp="1"/>
          </p:cNvSpPr>
          <p:nvPr>
            <p:ph type="sldNum" sz="quarter" idx="12"/>
          </p:nvPr>
        </p:nvSpPr>
        <p:spPr/>
        <p:txBody>
          <a:bodyPr/>
          <a:lstStyle/>
          <a:p>
            <a:fld id="{A60429D3-C08B-459B-AFD4-83E512543572}" type="slidenum">
              <a:rPr lang="en-IN" smtClean="0"/>
              <a:t>‹#›</a:t>
            </a:fld>
            <a:endParaRPr lang="en-IN"/>
          </a:p>
        </p:txBody>
      </p:sp>
    </p:spTree>
    <p:extLst>
      <p:ext uri="{BB962C8B-B14F-4D97-AF65-F5344CB8AC3E}">
        <p14:creationId xmlns:p14="http://schemas.microsoft.com/office/powerpoint/2010/main" val="2873949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604AFB-13B4-61D0-6383-D7E5492086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AE4586-B4FA-AD3A-6510-94B6298316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F8B84F-80EA-8C2C-8CFC-59561C6752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5E2B09-C167-4CB9-8182-E389456A56B8}" type="datetimeFigureOut">
              <a:rPr lang="en-IN" smtClean="0"/>
              <a:t>22-09-2025</a:t>
            </a:fld>
            <a:endParaRPr lang="en-IN"/>
          </a:p>
        </p:txBody>
      </p:sp>
      <p:sp>
        <p:nvSpPr>
          <p:cNvPr id="5" name="Footer Placeholder 4">
            <a:extLst>
              <a:ext uri="{FF2B5EF4-FFF2-40B4-BE49-F238E27FC236}">
                <a16:creationId xmlns:a16="http://schemas.microsoft.com/office/drawing/2014/main" id="{EA06297A-0D04-BA3B-64E4-797A0E9532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AF40B08-4E5E-E801-ABC2-F3473FB81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0429D3-C08B-459B-AFD4-83E512543572}" type="slidenum">
              <a:rPr lang="en-IN" smtClean="0"/>
              <a:t>‹#›</a:t>
            </a:fld>
            <a:endParaRPr lang="en-IN"/>
          </a:p>
        </p:txBody>
      </p:sp>
    </p:spTree>
    <p:extLst>
      <p:ext uri="{BB962C8B-B14F-4D97-AF65-F5344CB8AC3E}">
        <p14:creationId xmlns:p14="http://schemas.microsoft.com/office/powerpoint/2010/main" val="3837691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BA67E6-D3D2-2C3A-BFE9-E7FD3852F329}"/>
              </a:ext>
            </a:extLst>
          </p:cNvPr>
          <p:cNvSpPr txBox="1"/>
          <p:nvPr/>
        </p:nvSpPr>
        <p:spPr>
          <a:xfrm>
            <a:off x="3049250" y="2705725"/>
            <a:ext cx="6093500" cy="1446550"/>
          </a:xfrm>
          <a:prstGeom prst="rect">
            <a:avLst/>
          </a:prstGeom>
          <a:noFill/>
        </p:spPr>
        <p:txBody>
          <a:bodyPr wrap="square">
            <a:spAutoFit/>
          </a:bodyPr>
          <a:lstStyle/>
          <a:p>
            <a:r>
              <a:rPr lang="en-GB" sz="4400" dirty="0">
                <a:latin typeface="Californian FB" panose="0207040306080B030204" pitchFamily="18" charset="0"/>
                <a:ea typeface="Calibri" panose="020F0502020204030204" pitchFamily="34" charset="0"/>
                <a:cs typeface="Calibri" panose="020F0502020204030204" pitchFamily="34" charset="0"/>
              </a:rPr>
              <a:t>DSP Audio Effects Processor using STM32</a:t>
            </a:r>
            <a:endParaRPr lang="en-IN" sz="4400" dirty="0">
              <a:latin typeface="Californian FB" panose="0207040306080B0302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3454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55EF14-8E65-3B59-90AB-23A9E1385553}"/>
              </a:ext>
            </a:extLst>
          </p:cNvPr>
          <p:cNvSpPr txBox="1"/>
          <p:nvPr/>
        </p:nvSpPr>
        <p:spPr>
          <a:xfrm>
            <a:off x="4862435" y="411193"/>
            <a:ext cx="2467130" cy="769441"/>
          </a:xfrm>
          <a:prstGeom prst="rect">
            <a:avLst/>
          </a:prstGeom>
          <a:noFill/>
        </p:spPr>
        <p:txBody>
          <a:bodyPr wrap="square">
            <a:spAutoFit/>
          </a:bodyPr>
          <a:lstStyle/>
          <a:p>
            <a:r>
              <a:rPr lang="en-IN" sz="4400" dirty="0">
                <a:latin typeface="Californian FB" panose="0207040306080B030204" pitchFamily="18" charset="0"/>
              </a:rPr>
              <a:t>Abstract</a:t>
            </a:r>
          </a:p>
        </p:txBody>
      </p:sp>
      <p:sp>
        <p:nvSpPr>
          <p:cNvPr id="5" name="TextBox 4">
            <a:extLst>
              <a:ext uri="{FF2B5EF4-FFF2-40B4-BE49-F238E27FC236}">
                <a16:creationId xmlns:a16="http://schemas.microsoft.com/office/drawing/2014/main" id="{988D5FF5-182E-B207-CDA6-8AE224054970}"/>
              </a:ext>
            </a:extLst>
          </p:cNvPr>
          <p:cNvSpPr txBox="1"/>
          <p:nvPr/>
        </p:nvSpPr>
        <p:spPr>
          <a:xfrm>
            <a:off x="583992" y="1180634"/>
            <a:ext cx="11024016" cy="5509200"/>
          </a:xfrm>
          <a:prstGeom prst="rect">
            <a:avLst/>
          </a:prstGeom>
          <a:noFill/>
        </p:spPr>
        <p:txBody>
          <a:bodyPr wrap="square">
            <a:spAutoFit/>
          </a:bodyPr>
          <a:lstStyle/>
          <a:p>
            <a:r>
              <a:rPr lang="en-GB" sz="3200" dirty="0">
                <a:latin typeface="Calibri" panose="020F0502020204030204" pitchFamily="34" charset="0"/>
                <a:ea typeface="Calibri" panose="020F0502020204030204" pitchFamily="34" charset="0"/>
                <a:cs typeface="Calibri" panose="020F0502020204030204" pitchFamily="34" charset="0"/>
              </a:rPr>
              <a:t>The DSP Audio Effects Processor is designed to provide real-time audio modification using the STM32 microcontroller. The system receives sound input, processes it digitally to add effects, and outputs enhanced audio with minimal delay. By utilizing ADC and DAC modules along with DSP algorithms, the microcontroller efficiently handles tasks such as filtering, echo generation, and reverb. The hardware setup ensures clean signal acquisition and effective amplification for playback. This project serves as both a practical learning platform for digital signal processing concepts and a useful tool for creative applications in music and live audio systems.</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42099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401480-34D6-22E2-D359-B9F3ACB3D9E7}"/>
              </a:ext>
            </a:extLst>
          </p:cNvPr>
          <p:cNvSpPr txBox="1"/>
          <p:nvPr/>
        </p:nvSpPr>
        <p:spPr>
          <a:xfrm>
            <a:off x="3615721" y="264882"/>
            <a:ext cx="6092190" cy="769441"/>
          </a:xfrm>
          <a:prstGeom prst="rect">
            <a:avLst/>
          </a:prstGeom>
          <a:noFill/>
        </p:spPr>
        <p:txBody>
          <a:bodyPr wrap="square">
            <a:spAutoFit/>
          </a:bodyPr>
          <a:lstStyle/>
          <a:p>
            <a:pPr algn="just"/>
            <a:r>
              <a:rPr lang="en-IN" sz="4400" dirty="0">
                <a:latin typeface="Californian FB" panose="0207040306080B030204" pitchFamily="18" charset="0"/>
              </a:rPr>
              <a:t>About the Project</a:t>
            </a:r>
          </a:p>
        </p:txBody>
      </p:sp>
      <p:sp>
        <p:nvSpPr>
          <p:cNvPr id="5" name="TextBox 4">
            <a:extLst>
              <a:ext uri="{FF2B5EF4-FFF2-40B4-BE49-F238E27FC236}">
                <a16:creationId xmlns:a16="http://schemas.microsoft.com/office/drawing/2014/main" id="{58AE2565-B444-0945-84D2-E5A738D32552}"/>
              </a:ext>
            </a:extLst>
          </p:cNvPr>
          <p:cNvSpPr txBox="1"/>
          <p:nvPr/>
        </p:nvSpPr>
        <p:spPr>
          <a:xfrm>
            <a:off x="449704" y="1319136"/>
            <a:ext cx="11557417" cy="4955203"/>
          </a:xfrm>
          <a:prstGeom prst="rect">
            <a:avLst/>
          </a:prstGeom>
          <a:noFill/>
        </p:spPr>
        <p:txBody>
          <a:bodyPr wrap="square">
            <a:spAutoFit/>
          </a:bodyPr>
          <a:lstStyle/>
          <a:p>
            <a:r>
              <a:rPr lang="en-GB" sz="3200" dirty="0"/>
              <a:t>This project is a real-time </a:t>
            </a:r>
            <a:r>
              <a:rPr lang="en-GB" sz="3200" b="1" dirty="0"/>
              <a:t>DSP Audio Effects Processor</a:t>
            </a:r>
            <a:r>
              <a:rPr lang="en-GB" sz="3200" dirty="0"/>
              <a:t> using the STM32 microcontroller. The audio from the microphone is amplified, filtered, and digitized through an ADC. Inside the STM32, effects like echo, reverb, and distortion are applied using DSP algorithms. The processed signal is then converted back to </a:t>
            </a:r>
            <a:r>
              <a:rPr lang="en-GB" sz="3200" dirty="0" err="1"/>
              <a:t>analog</a:t>
            </a:r>
            <a:r>
              <a:rPr lang="en-GB" sz="3200" dirty="0"/>
              <a:t> ,amplified, and played through a speaker. This system demonstrates real-time audio processing and is useful in applications such as guitar pedals, voice changers, and live sound enhancement.</a:t>
            </a:r>
            <a:endParaRPr lang="en-GB" sz="3200" dirty="0">
              <a:latin typeface="Calibri" panose="020F0502020204030204" pitchFamily="34" charset="0"/>
              <a:ea typeface="Calibri" panose="020F0502020204030204" pitchFamily="34" charset="0"/>
              <a:cs typeface="Calibri" panose="020F0502020204030204" pitchFamily="34" charset="0"/>
            </a:endParaRPr>
          </a:p>
          <a:p>
            <a:pPr algn="just"/>
            <a:endParaRPr lang="en-GB"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0270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AB921F-4E30-B956-7CAE-FF9FF3E7864B}"/>
              </a:ext>
            </a:extLst>
          </p:cNvPr>
          <p:cNvSpPr txBox="1"/>
          <p:nvPr/>
        </p:nvSpPr>
        <p:spPr>
          <a:xfrm>
            <a:off x="3049250" y="1873530"/>
            <a:ext cx="7866088" cy="5262979"/>
          </a:xfrm>
          <a:prstGeom prst="rect">
            <a:avLst/>
          </a:prstGeom>
          <a:noFill/>
        </p:spPr>
        <p:txBody>
          <a:bodyPr wrap="square">
            <a:spAutoFit/>
          </a:bodyPr>
          <a:lstStyle/>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Microphone (MAX9814)</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Coupling Capacitors (1 µF)</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Pre Amplifier(NE5532)</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Pre Low-Pass Filter</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Analog-to-Digital Converter(ADC)</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STM32L432KC6 (Microcontroller)</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Digital-to-Analog Converter (DAC)</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Reconstruction Low-Pass Filter</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Amplifier(PAM8403)</a:t>
            </a:r>
          </a:p>
          <a:p>
            <a:pPr marL="571500" indent="-571500">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Speaker</a:t>
            </a:r>
          </a:p>
          <a:p>
            <a:pPr marL="571500" indent="-571500">
              <a:buFont typeface="Arial" panose="020B0604020202020204" pitchFamily="34" charset="0"/>
              <a:buChar char="•"/>
            </a:pPr>
            <a:endParaRPr lang="en-IN" sz="2800" dirty="0">
              <a:latin typeface="Calibri" panose="020F0502020204030204" pitchFamily="34" charset="0"/>
              <a:ea typeface="Calibri" panose="020F0502020204030204" pitchFamily="34" charset="0"/>
              <a:cs typeface="Calibri" panose="020F0502020204030204" pitchFamily="34" charset="0"/>
            </a:endParaRPr>
          </a:p>
          <a:p>
            <a:pPr marL="571500" indent="-571500">
              <a:buFont typeface="Arial" panose="020B0604020202020204" pitchFamily="34" charset="0"/>
              <a:buChar char="•"/>
            </a:pP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489CB9B-F026-C18A-B795-751F0B6A6E1B}"/>
              </a:ext>
            </a:extLst>
          </p:cNvPr>
          <p:cNvSpPr txBox="1"/>
          <p:nvPr/>
        </p:nvSpPr>
        <p:spPr>
          <a:xfrm>
            <a:off x="3049250" y="602317"/>
            <a:ext cx="6093500" cy="769441"/>
          </a:xfrm>
          <a:prstGeom prst="rect">
            <a:avLst/>
          </a:prstGeom>
          <a:noFill/>
        </p:spPr>
        <p:txBody>
          <a:bodyPr wrap="square">
            <a:spAutoFit/>
          </a:bodyPr>
          <a:lstStyle/>
          <a:p>
            <a:pPr algn="just"/>
            <a:r>
              <a:rPr lang="en-IN" sz="4400" dirty="0">
                <a:latin typeface="Californian FB" panose="0207040306080B030204" pitchFamily="18" charset="0"/>
              </a:rPr>
              <a:t>Hardware (Components)</a:t>
            </a:r>
          </a:p>
        </p:txBody>
      </p:sp>
    </p:spTree>
    <p:extLst>
      <p:ext uri="{BB962C8B-B14F-4D97-AF65-F5344CB8AC3E}">
        <p14:creationId xmlns:p14="http://schemas.microsoft.com/office/powerpoint/2010/main" val="1927423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934B112-073E-6458-7F1F-AAF5B9A2AF58}"/>
              </a:ext>
            </a:extLst>
          </p:cNvPr>
          <p:cNvSpPr/>
          <p:nvPr/>
        </p:nvSpPr>
        <p:spPr>
          <a:xfrm>
            <a:off x="3366642" y="3677268"/>
            <a:ext cx="1955649" cy="904567"/>
          </a:xfrm>
          <a:prstGeom prst="rect">
            <a:avLst/>
          </a:prstGeom>
          <a:solidFill>
            <a:schemeClr val="accent5">
              <a:lumMod val="40000"/>
              <a:lumOff val="60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Analog-to-Digital Converter</a:t>
            </a:r>
          </a:p>
          <a:p>
            <a:pPr algn="ctr"/>
            <a:r>
              <a:rPr lang="en-IN" dirty="0"/>
              <a:t>12-bit SAR</a:t>
            </a:r>
          </a:p>
        </p:txBody>
      </p:sp>
      <p:sp>
        <p:nvSpPr>
          <p:cNvPr id="4" name="Rectangle 3">
            <a:extLst>
              <a:ext uri="{FF2B5EF4-FFF2-40B4-BE49-F238E27FC236}">
                <a16:creationId xmlns:a16="http://schemas.microsoft.com/office/drawing/2014/main" id="{82CD7B20-E29B-0C10-33B4-D2DF99FB0432}"/>
              </a:ext>
            </a:extLst>
          </p:cNvPr>
          <p:cNvSpPr/>
          <p:nvPr/>
        </p:nvSpPr>
        <p:spPr>
          <a:xfrm>
            <a:off x="8111614" y="3665176"/>
            <a:ext cx="1897626" cy="914401"/>
          </a:xfrm>
          <a:prstGeom prst="rect">
            <a:avLst/>
          </a:prstGeom>
          <a:solidFill>
            <a:schemeClr val="accent6">
              <a:lumMod val="40000"/>
              <a:lumOff val="60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Digital-to-Analog Converter</a:t>
            </a:r>
          </a:p>
          <a:p>
            <a:pPr algn="ctr"/>
            <a:r>
              <a:rPr lang="en-IN" dirty="0"/>
              <a:t>12-bit DAC</a:t>
            </a:r>
          </a:p>
        </p:txBody>
      </p:sp>
      <p:sp>
        <p:nvSpPr>
          <p:cNvPr id="5" name="Rectangle 4">
            <a:extLst>
              <a:ext uri="{FF2B5EF4-FFF2-40B4-BE49-F238E27FC236}">
                <a16:creationId xmlns:a16="http://schemas.microsoft.com/office/drawing/2014/main" id="{CCD312FE-5E43-C2AA-28E2-0F0BE006B55B}"/>
              </a:ext>
            </a:extLst>
          </p:cNvPr>
          <p:cNvSpPr/>
          <p:nvPr/>
        </p:nvSpPr>
        <p:spPr>
          <a:xfrm>
            <a:off x="289854" y="1671481"/>
            <a:ext cx="1533832" cy="1052052"/>
          </a:xfrm>
          <a:prstGeom prst="rect">
            <a:avLst/>
          </a:prstGeom>
          <a:solidFill>
            <a:schemeClr val="bg2">
              <a:lumMod val="90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Micro Phone</a:t>
            </a:r>
          </a:p>
          <a:p>
            <a:pPr algn="ctr"/>
            <a:r>
              <a:rPr lang="en-IN" dirty="0"/>
              <a:t>MAX9814</a:t>
            </a:r>
          </a:p>
        </p:txBody>
      </p:sp>
      <p:sp>
        <p:nvSpPr>
          <p:cNvPr id="6" name="Rectangle 5">
            <a:extLst>
              <a:ext uri="{FF2B5EF4-FFF2-40B4-BE49-F238E27FC236}">
                <a16:creationId xmlns:a16="http://schemas.microsoft.com/office/drawing/2014/main" id="{2DAA2F8A-3C32-965B-8769-9552CD363B83}"/>
              </a:ext>
            </a:extLst>
          </p:cNvPr>
          <p:cNvSpPr/>
          <p:nvPr/>
        </p:nvSpPr>
        <p:spPr>
          <a:xfrm>
            <a:off x="10009240" y="5179506"/>
            <a:ext cx="1052051" cy="914400"/>
          </a:xfrm>
          <a:prstGeom prst="rect">
            <a:avLst/>
          </a:prstGeom>
          <a:solidFill>
            <a:schemeClr val="bg2">
              <a:lumMod val="90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Speaker</a:t>
            </a:r>
          </a:p>
        </p:txBody>
      </p:sp>
      <p:sp>
        <p:nvSpPr>
          <p:cNvPr id="7" name="Rectangle 6">
            <a:extLst>
              <a:ext uri="{FF2B5EF4-FFF2-40B4-BE49-F238E27FC236}">
                <a16:creationId xmlns:a16="http://schemas.microsoft.com/office/drawing/2014/main" id="{BE1A5D47-82DC-9721-07B4-1A83F231F802}"/>
              </a:ext>
            </a:extLst>
          </p:cNvPr>
          <p:cNvSpPr/>
          <p:nvPr/>
        </p:nvSpPr>
        <p:spPr>
          <a:xfrm>
            <a:off x="1896724" y="3677268"/>
            <a:ext cx="1127914" cy="914400"/>
          </a:xfrm>
          <a:prstGeom prst="rect">
            <a:avLst/>
          </a:prstGeom>
          <a:solidFill>
            <a:srgbClr val="B9D917"/>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Pre</a:t>
            </a:r>
          </a:p>
          <a:p>
            <a:pPr algn="ctr"/>
            <a:r>
              <a:rPr lang="en-IN" dirty="0">
                <a:latin typeface="Times New Roman" panose="02020603050405020304" pitchFamily="18" charset="0"/>
                <a:cs typeface="Times New Roman" panose="02020603050405020304" pitchFamily="18" charset="0"/>
              </a:rPr>
              <a:t>Low pass filter</a:t>
            </a:r>
          </a:p>
        </p:txBody>
      </p:sp>
      <p:sp>
        <p:nvSpPr>
          <p:cNvPr id="8" name="Rectangle 7">
            <a:extLst>
              <a:ext uri="{FF2B5EF4-FFF2-40B4-BE49-F238E27FC236}">
                <a16:creationId xmlns:a16="http://schemas.microsoft.com/office/drawing/2014/main" id="{7333922B-8201-D854-7CC2-E8B3014B55B1}"/>
              </a:ext>
            </a:extLst>
          </p:cNvPr>
          <p:cNvSpPr/>
          <p:nvPr/>
        </p:nvSpPr>
        <p:spPr>
          <a:xfrm>
            <a:off x="10415104" y="3665176"/>
            <a:ext cx="1714276" cy="914400"/>
          </a:xfrm>
          <a:prstGeom prst="rect">
            <a:avLst/>
          </a:prstGeom>
          <a:solidFill>
            <a:srgbClr val="B9D917"/>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Reconstruction Low Pass Filter</a:t>
            </a:r>
          </a:p>
        </p:txBody>
      </p:sp>
      <p:sp>
        <p:nvSpPr>
          <p:cNvPr id="9" name="Rectangle 8">
            <a:extLst>
              <a:ext uri="{FF2B5EF4-FFF2-40B4-BE49-F238E27FC236}">
                <a16:creationId xmlns:a16="http://schemas.microsoft.com/office/drawing/2014/main" id="{1398B5CD-A69A-B6E0-B661-D8E0B8A64D2F}"/>
              </a:ext>
            </a:extLst>
          </p:cNvPr>
          <p:cNvSpPr/>
          <p:nvPr/>
        </p:nvSpPr>
        <p:spPr>
          <a:xfrm>
            <a:off x="5873393" y="3667435"/>
            <a:ext cx="1832357" cy="914400"/>
          </a:xfrm>
          <a:prstGeom prst="rect">
            <a:avLst/>
          </a:prstGeom>
          <a:solidFill>
            <a:schemeClr val="accent2">
              <a:lumMod val="40000"/>
              <a:lumOff val="60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STM32L432KC6</a:t>
            </a:r>
          </a:p>
        </p:txBody>
      </p:sp>
      <p:sp>
        <p:nvSpPr>
          <p:cNvPr id="10" name="Rectangle 9">
            <a:extLst>
              <a:ext uri="{FF2B5EF4-FFF2-40B4-BE49-F238E27FC236}">
                <a16:creationId xmlns:a16="http://schemas.microsoft.com/office/drawing/2014/main" id="{5BE54260-29D6-EEF8-E644-79B96EAB10C0}"/>
              </a:ext>
            </a:extLst>
          </p:cNvPr>
          <p:cNvSpPr/>
          <p:nvPr/>
        </p:nvSpPr>
        <p:spPr>
          <a:xfrm>
            <a:off x="2479513" y="1671481"/>
            <a:ext cx="1533832" cy="1052052"/>
          </a:xfrm>
          <a:prstGeom prst="rect">
            <a:avLst/>
          </a:prstGeom>
          <a:solidFill>
            <a:schemeClr val="tx2">
              <a:lumMod val="25000"/>
              <a:lumOff val="75000"/>
            </a:schemeClr>
          </a:solid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Pre Amplifier</a:t>
            </a:r>
          </a:p>
          <a:p>
            <a:pPr algn="ctr"/>
            <a:r>
              <a:rPr lang="en-IN" dirty="0"/>
              <a:t>NE5532</a:t>
            </a:r>
          </a:p>
        </p:txBody>
      </p:sp>
      <p:sp>
        <p:nvSpPr>
          <p:cNvPr id="11" name="Rectangle 10">
            <a:extLst>
              <a:ext uri="{FF2B5EF4-FFF2-40B4-BE49-F238E27FC236}">
                <a16:creationId xmlns:a16="http://schemas.microsoft.com/office/drawing/2014/main" id="{07723C53-DD08-7F80-6650-D9DF7858DF9D}"/>
              </a:ext>
            </a:extLst>
          </p:cNvPr>
          <p:cNvSpPr/>
          <p:nvPr/>
        </p:nvSpPr>
        <p:spPr>
          <a:xfrm>
            <a:off x="8111614" y="5167415"/>
            <a:ext cx="1149145" cy="914400"/>
          </a:xfrm>
          <a:prstGeom prst="rect">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Amplifier</a:t>
            </a:r>
          </a:p>
          <a:p>
            <a:pPr algn="ctr"/>
            <a:r>
              <a:rPr lang="en-IN" dirty="0"/>
              <a:t>PAM8403</a:t>
            </a:r>
          </a:p>
        </p:txBody>
      </p:sp>
      <p:cxnSp>
        <p:nvCxnSpPr>
          <p:cNvPr id="13" name="Straight Arrow Connector 12">
            <a:extLst>
              <a:ext uri="{FF2B5EF4-FFF2-40B4-BE49-F238E27FC236}">
                <a16:creationId xmlns:a16="http://schemas.microsoft.com/office/drawing/2014/main" id="{09EF27CD-CAEC-21BC-5E15-575736B3DC6E}"/>
              </a:ext>
            </a:extLst>
          </p:cNvPr>
          <p:cNvCxnSpPr>
            <a:cxnSpLocks/>
            <a:stCxn id="5" idx="3"/>
            <a:endCxn id="10" idx="1"/>
          </p:cNvCxnSpPr>
          <p:nvPr/>
        </p:nvCxnSpPr>
        <p:spPr>
          <a:xfrm>
            <a:off x="1823686" y="2197507"/>
            <a:ext cx="655827" cy="0"/>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08FB5574-C396-651A-0F7A-C22EB5F12219}"/>
              </a:ext>
            </a:extLst>
          </p:cNvPr>
          <p:cNvCxnSpPr>
            <a:cxnSpLocks/>
            <a:stCxn id="7" idx="3"/>
            <a:endCxn id="3" idx="1"/>
          </p:cNvCxnSpPr>
          <p:nvPr/>
        </p:nvCxnSpPr>
        <p:spPr>
          <a:xfrm flipV="1">
            <a:off x="3024638" y="4129552"/>
            <a:ext cx="342004" cy="49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D530E19A-5FD0-589F-2E77-260C032521D2}"/>
              </a:ext>
            </a:extLst>
          </p:cNvPr>
          <p:cNvCxnSpPr>
            <a:cxnSpLocks/>
            <a:stCxn id="3" idx="3"/>
            <a:endCxn id="9" idx="1"/>
          </p:cNvCxnSpPr>
          <p:nvPr/>
        </p:nvCxnSpPr>
        <p:spPr>
          <a:xfrm flipV="1">
            <a:off x="5322291" y="4124635"/>
            <a:ext cx="551102" cy="491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7026BDB4-87CC-5316-1B92-93B42DF3B8B4}"/>
              </a:ext>
            </a:extLst>
          </p:cNvPr>
          <p:cNvCxnSpPr>
            <a:cxnSpLocks/>
            <a:stCxn id="9" idx="3"/>
            <a:endCxn id="4" idx="1"/>
          </p:cNvCxnSpPr>
          <p:nvPr/>
        </p:nvCxnSpPr>
        <p:spPr>
          <a:xfrm flipV="1">
            <a:off x="7705750" y="4122377"/>
            <a:ext cx="405864" cy="22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9BCBFE22-AC15-5D78-57A2-3AE49F32443B}"/>
              </a:ext>
            </a:extLst>
          </p:cNvPr>
          <p:cNvCxnSpPr>
            <a:cxnSpLocks/>
            <a:stCxn id="4" idx="3"/>
            <a:endCxn id="8" idx="1"/>
          </p:cNvCxnSpPr>
          <p:nvPr/>
        </p:nvCxnSpPr>
        <p:spPr>
          <a:xfrm flipV="1">
            <a:off x="10009240" y="4122376"/>
            <a:ext cx="40586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9" name="Connector: Elbow 28">
            <a:extLst>
              <a:ext uri="{FF2B5EF4-FFF2-40B4-BE49-F238E27FC236}">
                <a16:creationId xmlns:a16="http://schemas.microsoft.com/office/drawing/2014/main" id="{E7AE8B1D-C8DD-A143-5E74-496F5F24E26E}"/>
              </a:ext>
            </a:extLst>
          </p:cNvPr>
          <p:cNvCxnSpPr>
            <a:cxnSpLocks/>
            <a:stCxn id="8" idx="2"/>
            <a:endCxn id="11" idx="0"/>
          </p:cNvCxnSpPr>
          <p:nvPr/>
        </p:nvCxnSpPr>
        <p:spPr>
          <a:xfrm rot="5400000">
            <a:off x="9685296" y="3580468"/>
            <a:ext cx="587839" cy="2586055"/>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id="{ADAD0CCF-D992-DE23-91E2-BC906ECA39D1}"/>
              </a:ext>
            </a:extLst>
          </p:cNvPr>
          <p:cNvCxnSpPr>
            <a:cxnSpLocks/>
            <a:stCxn id="11" idx="3"/>
            <a:endCxn id="6" idx="1"/>
          </p:cNvCxnSpPr>
          <p:nvPr/>
        </p:nvCxnSpPr>
        <p:spPr>
          <a:xfrm>
            <a:off x="9260759" y="5624615"/>
            <a:ext cx="748481" cy="12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1" name="Rectangle 60">
            <a:extLst>
              <a:ext uri="{FF2B5EF4-FFF2-40B4-BE49-F238E27FC236}">
                <a16:creationId xmlns:a16="http://schemas.microsoft.com/office/drawing/2014/main" id="{62942213-D90C-0635-7961-75D096D562BC}"/>
              </a:ext>
            </a:extLst>
          </p:cNvPr>
          <p:cNvSpPr/>
          <p:nvPr/>
        </p:nvSpPr>
        <p:spPr>
          <a:xfrm>
            <a:off x="125845" y="3677268"/>
            <a:ext cx="1436294" cy="914400"/>
          </a:xfrm>
          <a:prstGeom prst="rect">
            <a:avLst/>
          </a:prstGeom>
          <a:solidFill>
            <a:srgbClr val="FF6699"/>
          </a:solidFill>
          <a:ln w="28575"/>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Coupling Capacitors</a:t>
            </a:r>
          </a:p>
          <a:p>
            <a:pPr algn="ctr"/>
            <a:r>
              <a:rPr lang="en-IN" dirty="0"/>
              <a:t>1 µF</a:t>
            </a:r>
            <a:endParaRPr lang="en-IN" dirty="0">
              <a:latin typeface="Times New Roman" panose="02020603050405020304" pitchFamily="18" charset="0"/>
              <a:cs typeface="Times New Roman" panose="02020603050405020304" pitchFamily="18" charset="0"/>
            </a:endParaRPr>
          </a:p>
        </p:txBody>
      </p:sp>
      <p:cxnSp>
        <p:nvCxnSpPr>
          <p:cNvPr id="114" name="Connector: Elbow 113">
            <a:extLst>
              <a:ext uri="{FF2B5EF4-FFF2-40B4-BE49-F238E27FC236}">
                <a16:creationId xmlns:a16="http://schemas.microsoft.com/office/drawing/2014/main" id="{551EC830-87D9-CFDF-8483-44DCC44081FA}"/>
              </a:ext>
            </a:extLst>
          </p:cNvPr>
          <p:cNvCxnSpPr>
            <a:cxnSpLocks/>
            <a:stCxn id="10" idx="2"/>
            <a:endCxn id="61" idx="0"/>
          </p:cNvCxnSpPr>
          <p:nvPr/>
        </p:nvCxnSpPr>
        <p:spPr>
          <a:xfrm rot="5400000">
            <a:off x="1568344" y="1999182"/>
            <a:ext cx="953735" cy="2402437"/>
          </a:xfrm>
          <a:prstGeom prst="bentConnector3">
            <a:avLst>
              <a:gd name="adj1" fmla="val 50000"/>
            </a:avLst>
          </a:prstGeom>
          <a:ln>
            <a:tailEnd type="triangle"/>
          </a:ln>
        </p:spPr>
        <p:style>
          <a:lnRef idx="3">
            <a:schemeClr val="dk1"/>
          </a:lnRef>
          <a:fillRef idx="0">
            <a:schemeClr val="dk1"/>
          </a:fillRef>
          <a:effectRef idx="2">
            <a:schemeClr val="dk1"/>
          </a:effectRef>
          <a:fontRef idx="minor">
            <a:schemeClr val="tx1"/>
          </a:fontRef>
        </p:style>
      </p:cxnSp>
      <p:cxnSp>
        <p:nvCxnSpPr>
          <p:cNvPr id="116" name="Straight Arrow Connector 115">
            <a:extLst>
              <a:ext uri="{FF2B5EF4-FFF2-40B4-BE49-F238E27FC236}">
                <a16:creationId xmlns:a16="http://schemas.microsoft.com/office/drawing/2014/main" id="{671EBE26-C896-C605-B773-E382A463395A}"/>
              </a:ext>
            </a:extLst>
          </p:cNvPr>
          <p:cNvCxnSpPr>
            <a:cxnSpLocks/>
            <a:stCxn id="61" idx="3"/>
            <a:endCxn id="7" idx="1"/>
          </p:cNvCxnSpPr>
          <p:nvPr/>
        </p:nvCxnSpPr>
        <p:spPr>
          <a:xfrm>
            <a:off x="1562139" y="4134468"/>
            <a:ext cx="33458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FDD24BD6-AC12-482F-DB61-101D5A36105C}"/>
              </a:ext>
            </a:extLst>
          </p:cNvPr>
          <p:cNvSpPr txBox="1"/>
          <p:nvPr/>
        </p:nvSpPr>
        <p:spPr>
          <a:xfrm>
            <a:off x="3915740" y="486075"/>
            <a:ext cx="6093500" cy="769441"/>
          </a:xfrm>
          <a:prstGeom prst="rect">
            <a:avLst/>
          </a:prstGeom>
          <a:noFill/>
        </p:spPr>
        <p:txBody>
          <a:bodyPr wrap="square">
            <a:spAutoFit/>
          </a:bodyPr>
          <a:lstStyle/>
          <a:p>
            <a:r>
              <a:rPr lang="en-IN" sz="4400" dirty="0">
                <a:latin typeface="Californian FB" panose="0207040306080B030204" pitchFamily="18" charset="0"/>
              </a:rPr>
              <a:t>Block Diagram</a:t>
            </a:r>
          </a:p>
        </p:txBody>
      </p:sp>
    </p:spTree>
    <p:extLst>
      <p:ext uri="{BB962C8B-B14F-4D97-AF65-F5344CB8AC3E}">
        <p14:creationId xmlns:p14="http://schemas.microsoft.com/office/powerpoint/2010/main" val="769378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076C40-39D8-CA45-FD6B-39B4FB905486}"/>
              </a:ext>
            </a:extLst>
          </p:cNvPr>
          <p:cNvSpPr txBox="1"/>
          <p:nvPr/>
        </p:nvSpPr>
        <p:spPr>
          <a:xfrm>
            <a:off x="3049250" y="1955658"/>
            <a:ext cx="6093500" cy="2677656"/>
          </a:xfrm>
          <a:prstGeom prst="rect">
            <a:avLst/>
          </a:prstGeom>
          <a:noFill/>
        </p:spPr>
        <p:txBody>
          <a:bodyPr wrap="square">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STM32CubeIDE (for coding and debugging)</a:t>
            </a:r>
          </a:p>
          <a:p>
            <a:r>
              <a:rPr lang="en-IN" sz="2800" dirty="0">
                <a:latin typeface="Calibri" panose="020F0502020204030204" pitchFamily="34" charset="0"/>
                <a:ea typeface="Calibri" panose="020F0502020204030204" pitchFamily="34" charset="0"/>
                <a:cs typeface="Calibri" panose="020F0502020204030204" pitchFamily="34" charset="0"/>
              </a:rPr>
              <a:t>• STM32CubeMX (for configuration)</a:t>
            </a:r>
          </a:p>
          <a:p>
            <a:r>
              <a:rPr lang="en-IN" sz="2800" dirty="0">
                <a:latin typeface="Calibri" panose="020F0502020204030204" pitchFamily="34" charset="0"/>
                <a:ea typeface="Calibri" panose="020F0502020204030204" pitchFamily="34" charset="0"/>
                <a:cs typeface="Calibri" panose="020F0502020204030204" pitchFamily="34" charset="0"/>
              </a:rPr>
              <a:t>• CMSIS-DSP Library (for DSP functions)</a:t>
            </a:r>
          </a:p>
          <a:p>
            <a:r>
              <a:rPr lang="en-IN" sz="2800" dirty="0">
                <a:latin typeface="Calibri" panose="020F0502020204030204" pitchFamily="34" charset="0"/>
                <a:ea typeface="Calibri" panose="020F0502020204030204" pitchFamily="34" charset="0"/>
                <a:cs typeface="Calibri" panose="020F0502020204030204" pitchFamily="34" charset="0"/>
              </a:rPr>
              <a:t>• Optional: Keil </a:t>
            </a:r>
            <a:r>
              <a:rPr lang="en-IN" sz="2800" dirty="0" err="1">
                <a:latin typeface="Calibri" panose="020F0502020204030204" pitchFamily="34" charset="0"/>
                <a:ea typeface="Calibri" panose="020F0502020204030204" pitchFamily="34" charset="0"/>
                <a:cs typeface="Calibri" panose="020F0502020204030204" pitchFamily="34" charset="0"/>
              </a:rPr>
              <a:t>uVision</a:t>
            </a:r>
            <a:r>
              <a:rPr lang="en-IN" sz="2800" dirty="0">
                <a:latin typeface="Calibri" panose="020F0502020204030204" pitchFamily="34" charset="0"/>
                <a:ea typeface="Calibri" panose="020F0502020204030204" pitchFamily="34" charset="0"/>
                <a:cs typeface="Calibri" panose="020F0502020204030204" pitchFamily="34" charset="0"/>
              </a:rPr>
              <a:t> / IAR Embedded Workbench</a:t>
            </a:r>
          </a:p>
        </p:txBody>
      </p:sp>
      <p:sp>
        <p:nvSpPr>
          <p:cNvPr id="5" name="TextBox 4">
            <a:extLst>
              <a:ext uri="{FF2B5EF4-FFF2-40B4-BE49-F238E27FC236}">
                <a16:creationId xmlns:a16="http://schemas.microsoft.com/office/drawing/2014/main" id="{3D8B87E4-E3E6-D580-8B00-78F8BC20124F}"/>
              </a:ext>
            </a:extLst>
          </p:cNvPr>
          <p:cNvSpPr txBox="1"/>
          <p:nvPr/>
        </p:nvSpPr>
        <p:spPr>
          <a:xfrm>
            <a:off x="3781268" y="527366"/>
            <a:ext cx="3683833" cy="769441"/>
          </a:xfrm>
          <a:prstGeom prst="rect">
            <a:avLst/>
          </a:prstGeom>
          <a:noFill/>
        </p:spPr>
        <p:txBody>
          <a:bodyPr wrap="square">
            <a:spAutoFit/>
          </a:bodyPr>
          <a:lstStyle/>
          <a:p>
            <a:pPr algn="just"/>
            <a:r>
              <a:rPr lang="en-IN" sz="4400" dirty="0">
                <a:latin typeface="Californian FB" panose="0207040306080B030204" pitchFamily="18" charset="0"/>
              </a:rPr>
              <a:t>Software Tools</a:t>
            </a:r>
          </a:p>
        </p:txBody>
      </p:sp>
    </p:spTree>
    <p:extLst>
      <p:ext uri="{BB962C8B-B14F-4D97-AF65-F5344CB8AC3E}">
        <p14:creationId xmlns:p14="http://schemas.microsoft.com/office/powerpoint/2010/main" val="477622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3AF018-7A1F-86CC-FE24-B8A9F68375E3}"/>
              </a:ext>
            </a:extLst>
          </p:cNvPr>
          <p:cNvSpPr txBox="1"/>
          <p:nvPr/>
        </p:nvSpPr>
        <p:spPr>
          <a:xfrm>
            <a:off x="4329034" y="617308"/>
            <a:ext cx="3294088" cy="769441"/>
          </a:xfrm>
          <a:prstGeom prst="rect">
            <a:avLst/>
          </a:prstGeom>
          <a:noFill/>
        </p:spPr>
        <p:txBody>
          <a:bodyPr wrap="square">
            <a:spAutoFit/>
          </a:bodyPr>
          <a:lstStyle/>
          <a:p>
            <a:pPr algn="just"/>
            <a:r>
              <a:rPr lang="en-IN" sz="4400" dirty="0">
                <a:latin typeface="Californian FB" panose="0207040306080B030204" pitchFamily="18" charset="0"/>
              </a:rPr>
              <a:t>Applications</a:t>
            </a:r>
          </a:p>
        </p:txBody>
      </p:sp>
      <p:sp>
        <p:nvSpPr>
          <p:cNvPr id="5" name="TextBox 4">
            <a:extLst>
              <a:ext uri="{FF2B5EF4-FFF2-40B4-BE49-F238E27FC236}">
                <a16:creationId xmlns:a16="http://schemas.microsoft.com/office/drawing/2014/main" id="{D2A6FC5A-CC3E-1B59-463F-D8959EC732FC}"/>
              </a:ext>
            </a:extLst>
          </p:cNvPr>
          <p:cNvSpPr txBox="1"/>
          <p:nvPr/>
        </p:nvSpPr>
        <p:spPr>
          <a:xfrm>
            <a:off x="3304083" y="2521059"/>
            <a:ext cx="6093500" cy="1815882"/>
          </a:xfrm>
          <a:prstGeom prst="rect">
            <a:avLst/>
          </a:prstGeom>
          <a:noFill/>
        </p:spPr>
        <p:txBody>
          <a:bodyPr wrap="square">
            <a:sp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Guitar effects pedals</a:t>
            </a:r>
          </a:p>
          <a:p>
            <a:r>
              <a:rPr lang="en-IN" sz="2800" dirty="0">
                <a:latin typeface="Calibri" panose="020F0502020204030204" pitchFamily="34" charset="0"/>
                <a:ea typeface="Calibri" panose="020F0502020204030204" pitchFamily="34" charset="0"/>
                <a:cs typeface="Calibri" panose="020F0502020204030204" pitchFamily="34" charset="0"/>
              </a:rPr>
              <a:t>• Voice changers</a:t>
            </a:r>
          </a:p>
          <a:p>
            <a:r>
              <a:rPr lang="en-IN" sz="2800" dirty="0">
                <a:latin typeface="Calibri" panose="020F0502020204030204" pitchFamily="34" charset="0"/>
                <a:ea typeface="Calibri" panose="020F0502020204030204" pitchFamily="34" charset="0"/>
                <a:cs typeface="Calibri" panose="020F0502020204030204" pitchFamily="34" charset="0"/>
              </a:rPr>
              <a:t>• Studio audio processors</a:t>
            </a:r>
          </a:p>
          <a:p>
            <a:r>
              <a:rPr lang="en-IN" sz="2800" dirty="0">
                <a:latin typeface="Calibri" panose="020F0502020204030204" pitchFamily="34" charset="0"/>
                <a:ea typeface="Calibri" panose="020F0502020204030204" pitchFamily="34" charset="0"/>
                <a:cs typeface="Calibri" panose="020F0502020204030204" pitchFamily="34" charset="0"/>
              </a:rPr>
              <a:t>• Educational DSP platforms</a:t>
            </a:r>
          </a:p>
        </p:txBody>
      </p:sp>
    </p:spTree>
    <p:extLst>
      <p:ext uri="{BB962C8B-B14F-4D97-AF65-F5344CB8AC3E}">
        <p14:creationId xmlns:p14="http://schemas.microsoft.com/office/powerpoint/2010/main" val="1551506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330</Words>
  <Application>Microsoft Office PowerPoint</Application>
  <PresentationFormat>Widescreen</PresentationFormat>
  <Paragraphs>44</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Aptos Display</vt:lpstr>
      <vt:lpstr>Arial</vt:lpstr>
      <vt:lpstr>Calibri</vt:lpstr>
      <vt:lpstr>Californian FB</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Kannaji</dc:creator>
  <cp:lastModifiedBy>Sreevidya Hari</cp:lastModifiedBy>
  <cp:revision>3</cp:revision>
  <dcterms:created xsi:type="dcterms:W3CDTF">2025-09-22T09:08:54Z</dcterms:created>
  <dcterms:modified xsi:type="dcterms:W3CDTF">2025-09-22T17:03:52Z</dcterms:modified>
</cp:coreProperties>
</file>